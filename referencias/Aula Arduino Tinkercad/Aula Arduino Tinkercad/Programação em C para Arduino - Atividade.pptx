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oboto Mono Medium"/>
      <p:regular r:id="rId28"/>
      <p:bold r:id="rId29"/>
      <p:italic r:id="rId30"/>
      <p:boldItalic r:id="rId31"/>
    </p:embeddedFont>
    <p:embeddedFont>
      <p:font typeface="Roboto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MonoMedium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Medium-boldItalic.fntdata"/><Relationship Id="rId30" Type="http://schemas.openxmlformats.org/officeDocument/2006/relationships/font" Target="fonts/RobotoMonoMedium-italic.fntdata"/><Relationship Id="rId11" Type="http://schemas.openxmlformats.org/officeDocument/2006/relationships/slide" Target="slides/slide6.xml"/><Relationship Id="rId33" Type="http://schemas.openxmlformats.org/officeDocument/2006/relationships/font" Target="fonts/RobotoMedium-bold.fntdata"/><Relationship Id="rId10" Type="http://schemas.openxmlformats.org/officeDocument/2006/relationships/slide" Target="slides/slide5.xml"/><Relationship Id="rId32" Type="http://schemas.openxmlformats.org/officeDocument/2006/relationships/font" Target="fonts/RobotoMedium-regular.fntdata"/><Relationship Id="rId13" Type="http://schemas.openxmlformats.org/officeDocument/2006/relationships/slide" Target="slides/slide8.xml"/><Relationship Id="rId35" Type="http://schemas.openxmlformats.org/officeDocument/2006/relationships/font" Target="fonts/Roboto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Medium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dffda81d0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dffda81d0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dffc885f2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dffc885f2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dffc885f2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dffc885f2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dafee508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dafee508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e0af5bbe8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e0af5bbe8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e0af5bbe8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e0af5bbe8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e0af5bbe8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e0af5bbe8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e0af5bbe8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e0af5bbe8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e0af5bbe8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e0af5bbe8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dffc885f2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dffc885f2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dffc885f2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dffc885f2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dffc885f2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dffc885f2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dafee508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dafee508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f74fab0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f74fab0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dffc885f2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dffc885f2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dffc885f2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dffc885f2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dffc885f2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dffc885f2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e0cdf952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e0cdf952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e0cdf9528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e0cdf9528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f74fab0b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f74fab0b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f74fab0b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f74fab0b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arduino.cc/reference/en/" TargetMode="External"/><Relationship Id="rId4" Type="http://schemas.openxmlformats.org/officeDocument/2006/relationships/hyperlink" Target="https://www.arduino.cc/reference/pt/" TargetMode="External"/><Relationship Id="rId5" Type="http://schemas.openxmlformats.org/officeDocument/2006/relationships/hyperlink" Target="https://www.arduino.cc/reference/pt/language/functions/analog-io/analogread/" TargetMode="External"/><Relationship Id="rId6" Type="http://schemas.openxmlformats.org/officeDocument/2006/relationships/hyperlink" Target="https://www.arduino.cc/en/Reference/LiquidCrystal" TargetMode="External"/><Relationship Id="rId7" Type="http://schemas.openxmlformats.org/officeDocument/2006/relationships/hyperlink" Target="https://blog.eletrogate.com/guia-completo-do-display-lcd-arduino/" TargetMode="External"/><Relationship Id="rId8" Type="http://schemas.openxmlformats.org/officeDocument/2006/relationships/hyperlink" Target="http://blog.baudaeletronica.com.br/conhecendo-biblioteca-liquidcrystal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tinkercad.com/things/61DrCyhPi6e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tinkercad.com/things/hHo2m081jwI" TargetMode="External"/><Relationship Id="rId4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Programação em C</a:t>
            </a:r>
            <a:br>
              <a:rPr lang="pt-BR"/>
            </a:br>
            <a:r>
              <a:rPr lang="pt-BR"/>
              <a:t>para Arduino - Atividade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 João Miguel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9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Arduino - Documentação da Linguagem e alguns Comandos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469575"/>
            <a:ext cx="8520600" cy="30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>
                <a:solidFill>
                  <a:srgbClr val="375A64"/>
                </a:solidFill>
              </a:rPr>
              <a:t>Documentação de Referência da Linguagem Arduino</a:t>
            </a:r>
            <a:endParaRPr sz="1050">
              <a:solidFill>
                <a:srgbClr val="375A64"/>
              </a:solidFill>
            </a:endParaRPr>
          </a:p>
          <a:p>
            <a:pPr indent="-295275" lvl="0" marL="596900" rtl="0" algn="l">
              <a:spcBef>
                <a:spcPts val="800"/>
              </a:spcBef>
              <a:spcAft>
                <a:spcPts val="0"/>
              </a:spcAft>
              <a:buClr>
                <a:srgbClr val="375A64"/>
              </a:buClr>
              <a:buSzPts val="1050"/>
              <a:buChar char="●"/>
            </a:pPr>
            <a:r>
              <a:rPr lang="pt-BR" sz="1050">
                <a:solidFill>
                  <a:srgbClr val="337AB7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https://www.arduino.cc/reference/en/</a:t>
            </a:r>
            <a:r>
              <a:rPr lang="pt-BR" sz="1050">
                <a:solidFill>
                  <a:srgbClr val="375A64"/>
                </a:solidFill>
              </a:rPr>
              <a:t> (Ingles)</a:t>
            </a:r>
            <a:endParaRPr sz="1050">
              <a:solidFill>
                <a:srgbClr val="375A64"/>
              </a:solidFill>
            </a:endParaRPr>
          </a:p>
          <a:p>
            <a:pPr indent="-295275" lvl="0" marL="596900" rtl="0" algn="l">
              <a:spcBef>
                <a:spcPts val="0"/>
              </a:spcBef>
              <a:spcAft>
                <a:spcPts val="0"/>
              </a:spcAft>
              <a:buClr>
                <a:srgbClr val="375A64"/>
              </a:buClr>
              <a:buSzPts val="1050"/>
              <a:buChar char="●"/>
            </a:pPr>
            <a:r>
              <a:rPr lang="pt-BR" sz="1050">
                <a:solidFill>
                  <a:srgbClr val="337AB7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https://www.arduino.cc/reference/pt/</a:t>
            </a:r>
            <a:r>
              <a:rPr lang="pt-BR" sz="1050">
                <a:solidFill>
                  <a:srgbClr val="375A64"/>
                </a:solidFill>
              </a:rPr>
              <a:t> (Português)</a:t>
            </a:r>
            <a:endParaRPr sz="1050">
              <a:solidFill>
                <a:srgbClr val="375A64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>
                <a:solidFill>
                  <a:srgbClr val="375A64"/>
                </a:solidFill>
              </a:rPr>
              <a:t>Função de Leitura de um Sinal Analógico</a:t>
            </a:r>
            <a:endParaRPr sz="1050">
              <a:solidFill>
                <a:srgbClr val="375A64"/>
              </a:solidFill>
            </a:endParaRPr>
          </a:p>
          <a:p>
            <a:pPr indent="-295275" lvl="0" marL="596900" rtl="0" algn="l">
              <a:spcBef>
                <a:spcPts val="800"/>
              </a:spcBef>
              <a:spcAft>
                <a:spcPts val="0"/>
              </a:spcAft>
              <a:buClr>
                <a:srgbClr val="375A64"/>
              </a:buClr>
              <a:buSzPts val="1050"/>
              <a:buChar char="●"/>
            </a:pPr>
            <a:r>
              <a:rPr lang="pt-BR" sz="1050">
                <a:solidFill>
                  <a:srgbClr val="337AB7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https://www.arduino.cc/reference/pt/language/functions/analog-io/analogread/</a:t>
            </a:r>
            <a:endParaRPr sz="1050">
              <a:solidFill>
                <a:srgbClr val="337AB7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>
                <a:solidFill>
                  <a:srgbClr val="375A64"/>
                </a:solidFill>
              </a:rPr>
              <a:t>Biblioteca para uso do Display de LCD</a:t>
            </a:r>
            <a:endParaRPr sz="1050">
              <a:solidFill>
                <a:srgbClr val="375A64"/>
              </a:solidFill>
            </a:endParaRPr>
          </a:p>
          <a:p>
            <a:pPr indent="-295275" lvl="0" marL="596900" rtl="0" algn="l">
              <a:spcBef>
                <a:spcPts val="800"/>
              </a:spcBef>
              <a:spcAft>
                <a:spcPts val="0"/>
              </a:spcAft>
              <a:buClr>
                <a:srgbClr val="375A64"/>
              </a:buClr>
              <a:buSzPts val="1050"/>
              <a:buChar char="●"/>
            </a:pPr>
            <a:r>
              <a:rPr lang="pt-BR" sz="1050">
                <a:solidFill>
                  <a:srgbClr val="337AB7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https://www.arduino.cc/en/Reference/LiquidCrystal</a:t>
            </a:r>
            <a:endParaRPr sz="1050">
              <a:solidFill>
                <a:srgbClr val="337AB7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>
                <a:solidFill>
                  <a:srgbClr val="375A64"/>
                </a:solidFill>
              </a:rPr>
              <a:t>Guias sobre o Display LCD e a biblioteca LCD do Arduino</a:t>
            </a:r>
            <a:endParaRPr sz="1050">
              <a:solidFill>
                <a:srgbClr val="375A64"/>
              </a:solidFill>
            </a:endParaRPr>
          </a:p>
          <a:p>
            <a:pPr indent="-295275" lvl="0" marL="596900" rtl="0" algn="l">
              <a:spcBef>
                <a:spcPts val="800"/>
              </a:spcBef>
              <a:spcAft>
                <a:spcPts val="0"/>
              </a:spcAft>
              <a:buClr>
                <a:srgbClr val="375A64"/>
              </a:buClr>
              <a:buSzPts val="1050"/>
              <a:buChar char="●"/>
            </a:pPr>
            <a:r>
              <a:rPr lang="pt-BR" sz="1050">
                <a:solidFill>
                  <a:srgbClr val="337AB7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https://blog.eletrogate.com/guia-completo-do-display-lcd-arduino/</a:t>
            </a:r>
            <a:endParaRPr sz="1050">
              <a:solidFill>
                <a:srgbClr val="337AB7"/>
              </a:solidFill>
            </a:endParaRPr>
          </a:p>
          <a:p>
            <a:pPr indent="-295275" lvl="0" marL="596900" rtl="0" algn="l">
              <a:spcBef>
                <a:spcPts val="0"/>
              </a:spcBef>
              <a:spcAft>
                <a:spcPts val="0"/>
              </a:spcAft>
              <a:buClr>
                <a:srgbClr val="375A64"/>
              </a:buClr>
              <a:buSzPts val="1050"/>
              <a:buChar char="●"/>
            </a:pPr>
            <a:r>
              <a:rPr lang="pt-BR" sz="1050">
                <a:solidFill>
                  <a:srgbClr val="337AB7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http://blog.baudaeletronica.com.br/conhecendo-biblioteca-liquidcrystal/</a:t>
            </a:r>
            <a:endParaRPr sz="1050">
              <a:solidFill>
                <a:srgbClr val="337AB7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 1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Acesse o link do próximo slide e faça uma cópia do projeto para a sua conta no TinkerCad.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Clique no botão ‘CODE’ e veja o código fonte do programa que está gravado no arduino.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Modifique/complete o código para fazer 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conversão de temperatura de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Celsius para </a:t>
            </a:r>
            <a:r>
              <a:rPr lang="pt-BR"/>
              <a:t>Fahrenheit.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7150" y="2512975"/>
            <a:ext cx="3471051" cy="2228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15"/>
          <p:cNvCxnSpPr/>
          <p:nvPr/>
        </p:nvCxnSpPr>
        <p:spPr>
          <a:xfrm flipH="1">
            <a:off x="7509750" y="2395400"/>
            <a:ext cx="190800" cy="29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Tinkercad - Conversão de Temperatura - Projeto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334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Acesse o link a seguir e depois clique em "Copiar e usar"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Tinkercad Conversão de Temperatura -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https://www.tinkercad.com/things/61DrCyhPi6e</a:t>
            </a:r>
            <a:r>
              <a:rPr lang="pt-BR"/>
              <a:t>	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4372" y="1152472"/>
            <a:ext cx="5134674" cy="329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converteTEMP.c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3266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Código em linguagem C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6050" y="-14547"/>
            <a:ext cx="5447950" cy="5158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445025"/>
            <a:ext cx="4870949" cy="468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 rotWithShape="1">
          <a:blip r:embed="rId4">
            <a:alphaModFix/>
          </a:blip>
          <a:srcRect b="0" l="0" r="8198" t="0"/>
          <a:stretch/>
        </p:blipFill>
        <p:spPr>
          <a:xfrm>
            <a:off x="4427075" y="445025"/>
            <a:ext cx="4716926" cy="369734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>
            <p:ph idx="4294967295" type="title"/>
          </p:nvPr>
        </p:nvSpPr>
        <p:spPr>
          <a:xfrm>
            <a:off x="248275" y="71575"/>
            <a:ext cx="60579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4396"/>
              <a:buNone/>
            </a:pPr>
            <a:r>
              <a:rPr lang="pt-BR" sz="1820"/>
              <a:t>Conversão de Temperatura - </a:t>
            </a:r>
            <a:r>
              <a:rPr lang="pt-BR" sz="1820"/>
              <a:t>Código do Tinkercad</a:t>
            </a:r>
            <a:endParaRPr sz="1820"/>
          </a:p>
        </p:txBody>
      </p:sp>
      <p:sp>
        <p:nvSpPr>
          <p:cNvPr id="91" name="Google Shape;91;p18"/>
          <p:cNvSpPr/>
          <p:nvPr/>
        </p:nvSpPr>
        <p:spPr>
          <a:xfrm>
            <a:off x="4854625" y="1789675"/>
            <a:ext cx="2409600" cy="28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Complete o código</a:t>
            </a:r>
            <a:endParaRPr/>
          </a:p>
        </p:txBody>
      </p:sp>
      <p:sp>
        <p:nvSpPr>
          <p:cNvPr id="92" name="Google Shape;92;p18"/>
          <p:cNvSpPr/>
          <p:nvPr/>
        </p:nvSpPr>
        <p:spPr>
          <a:xfrm>
            <a:off x="4854625" y="2216150"/>
            <a:ext cx="2409600" cy="28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Complete o código</a:t>
            </a:r>
            <a:endParaRPr/>
          </a:p>
        </p:txBody>
      </p:sp>
      <p:sp>
        <p:nvSpPr>
          <p:cNvPr id="93" name="Google Shape;93;p18"/>
          <p:cNvSpPr/>
          <p:nvPr/>
        </p:nvSpPr>
        <p:spPr>
          <a:xfrm>
            <a:off x="338200" y="4685525"/>
            <a:ext cx="2134800" cy="40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Complete o código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CODE (</a:t>
            </a:r>
            <a:r>
              <a:rPr lang="pt-BR"/>
              <a:t>1/4</a:t>
            </a:r>
            <a:r>
              <a:rPr lang="pt-BR"/>
              <a:t>)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// Faculdade SENAI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// Professor João Miguel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// Programação Básica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// Conversao de Temperatura oC para oF - BASE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//Inclusão das Bibliotecas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#include &lt;LiquidCrystal.h&gt;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// Inicializa o display LCD nos pinos conectados no Arduino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LiquidCrystal LCD(12, 11, 5, 4, 3, 2);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// Função 'setup' eh executada somente uma vez.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void setup(){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// Configura o display LCD com 16 colunas e 2 linhas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LCD.begin(16, 2);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}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00" name="Google Shape;100;p19"/>
          <p:cNvSpPr/>
          <p:nvPr/>
        </p:nvSpPr>
        <p:spPr>
          <a:xfrm>
            <a:off x="6347275" y="1503875"/>
            <a:ext cx="2175300" cy="896400"/>
          </a:xfrm>
          <a:prstGeom prst="wedgeRectCallout">
            <a:avLst>
              <a:gd fmla="val -144054" name="adj1"/>
              <a:gd fmla="val 25633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Biblioteca para fazer uso do Display LCD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CODE (</a:t>
            </a:r>
            <a:r>
              <a:rPr lang="pt-BR"/>
              <a:t>2/4</a:t>
            </a:r>
            <a:r>
              <a:rPr lang="pt-BR"/>
              <a:t>)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// Função 'loop' eh executado de modo continuo após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// a unica execução da função 'setup'.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void loop(){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//Declaração das Variáveis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//Variavel do potenciometro conectado a entrada A0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int potenciometro; 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//Variaveis de Entrada e Saida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//Entrada de Dados  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potenciometro = analogRead(A0); //Retorna um inteiro de 0 a 1023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07" name="Google Shape;107;p20"/>
          <p:cNvSpPr/>
          <p:nvPr/>
        </p:nvSpPr>
        <p:spPr>
          <a:xfrm>
            <a:off x="6121800" y="1970525"/>
            <a:ext cx="2710500" cy="1545300"/>
          </a:xfrm>
          <a:prstGeom prst="wedgeRectCallout">
            <a:avLst>
              <a:gd fmla="val -239722" name="adj1"/>
              <a:gd fmla="val -5622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Declare aqui as variáveis necessárias.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Dica (Veja o final do código)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 Medium"/>
                <a:ea typeface="Roboto Mono Medium"/>
                <a:cs typeface="Roboto Mono Medium"/>
                <a:sym typeface="Roboto Mono Medium"/>
              </a:rPr>
              <a:t>tempC</a:t>
            </a:r>
            <a:endParaRPr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 Medium"/>
                <a:ea typeface="Roboto Mono Medium"/>
                <a:cs typeface="Roboto Mono Medium"/>
                <a:sym typeface="Roboto Mono Medium"/>
              </a:rPr>
              <a:t>tempF</a:t>
            </a:r>
            <a:endParaRPr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08" name="Google Shape;108;p20"/>
          <p:cNvSpPr/>
          <p:nvPr/>
        </p:nvSpPr>
        <p:spPr>
          <a:xfrm>
            <a:off x="3004875" y="3677950"/>
            <a:ext cx="2490900" cy="1173900"/>
          </a:xfrm>
          <a:prstGeom prst="wedgeRectCallout">
            <a:avLst>
              <a:gd fmla="val -120567" name="adj1"/>
              <a:gd fmla="val -87214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Variável ‘</a:t>
            </a:r>
            <a:r>
              <a:rPr lang="pt-BR">
                <a:latin typeface="Roboto Mono Medium"/>
                <a:ea typeface="Roboto Mono Medium"/>
                <a:cs typeface="Roboto Mono Medium"/>
                <a:sym typeface="Roboto Mono Medium"/>
              </a:rPr>
              <a:t>ponteciometro</a:t>
            </a:r>
            <a:r>
              <a:rPr lang="pt-BR"/>
              <a:t>’ </a:t>
            </a:r>
            <a:r>
              <a:rPr lang="pt-BR"/>
              <a:t>contém</a:t>
            </a:r>
            <a:r>
              <a:rPr lang="pt-BR"/>
              <a:t> um inteiro em 0 e 1023 proporcional a posição do potenciêmetro</a:t>
            </a:r>
            <a:endParaRPr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CODE (3/4)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//Processamento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//Escalona os valores do pontenciometro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//funcao 'map'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//saida = map(entrada,min_ent,max_ent,min_sai,max_sai)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//Converte Valor de oC para oF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1303475" y="3008600"/>
            <a:ext cx="3508800" cy="1366800"/>
          </a:xfrm>
          <a:prstGeom prst="wedgeRectCallout">
            <a:avLst>
              <a:gd fmla="val -54417" name="adj1"/>
              <a:gd fmla="val -67928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Inclua aqui os comandos em Linguagem C para fazer a conversão de temperatura de Celsius para </a:t>
            </a:r>
            <a:r>
              <a:rPr lang="pt-BR"/>
              <a:t>Fahrenheit.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Dica: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Veja o código que fizemos em aula</a:t>
            </a:r>
            <a:endParaRPr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8203" y="923050"/>
            <a:ext cx="4093051" cy="387525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/>
          <p:nvPr/>
        </p:nvSpPr>
        <p:spPr>
          <a:xfrm>
            <a:off x="2219450" y="42300"/>
            <a:ext cx="6235500" cy="789300"/>
          </a:xfrm>
          <a:prstGeom prst="wedgeRectCallout">
            <a:avLst>
              <a:gd fmla="val -67092" name="adj1"/>
              <a:gd fmla="val 238331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Inclua aqui os comandos em Linguagem do Arduino para mapear o valor de 0 a 1023 do </a:t>
            </a:r>
            <a:r>
              <a:rPr lang="pt-BR" sz="1200"/>
              <a:t>potenciômetro</a:t>
            </a:r>
            <a:r>
              <a:rPr lang="pt-BR" sz="1200"/>
              <a:t> em 0 a 60.</a:t>
            </a:r>
            <a:br>
              <a:rPr lang="pt-BR" sz="1200"/>
            </a:br>
            <a:r>
              <a:rPr lang="pt-BR" sz="1200"/>
              <a:t>Dica: veja a documentação da função ‘</a:t>
            </a:r>
            <a:r>
              <a:rPr lang="pt-BR" sz="1200">
                <a:latin typeface="Roboto Medium"/>
                <a:ea typeface="Roboto Medium"/>
                <a:cs typeface="Roboto Medium"/>
                <a:sym typeface="Roboto Medium"/>
              </a:rPr>
              <a:t>map</a:t>
            </a:r>
            <a:r>
              <a:rPr lang="pt-BR" sz="1200"/>
              <a:t>’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  </a:t>
            </a:r>
            <a:r>
              <a:rPr lang="pt-BR" sz="1200">
                <a:latin typeface="Roboto Mono Medium"/>
                <a:ea typeface="Roboto Mono Medium"/>
                <a:cs typeface="Roboto Mono Medium"/>
                <a:sym typeface="Roboto Mono Medium"/>
              </a:rPr>
              <a:t>tempC = map(potenciometro,0,1023,0,60); //Adequacao da Escala</a:t>
            </a:r>
            <a:endParaRPr sz="12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CODE (4/4)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//Apresentação de Resultados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LCD.setCursor(0, 0); //Coluna 0, Linha 0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LCD.print("TempC:      oC");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LCD.setCursor(7, 0); //Coluna 7, Linha 0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LCD.print(tempC);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LCD.setCursor(0, 1); //Coluna 0, Linha 1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LCD.print("TempF:      oF");  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LCD.setCursor(7, 1); //Coluna 7, Linha 1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  LCD.print(tempF);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pt-BR" sz="1000">
                <a:latin typeface="Roboto Mono Medium"/>
                <a:ea typeface="Roboto Mono Medium"/>
                <a:cs typeface="Roboto Mono Medium"/>
                <a:sym typeface="Roboto Mono Medium"/>
              </a:rPr>
              <a:t>}</a:t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24" name="Google Shape;124;p22"/>
          <p:cNvSpPr/>
          <p:nvPr/>
        </p:nvSpPr>
        <p:spPr>
          <a:xfrm>
            <a:off x="4213425" y="1676925"/>
            <a:ext cx="4819500" cy="2148900"/>
          </a:xfrm>
          <a:prstGeom prst="wedgeRectCallout">
            <a:avLst>
              <a:gd fmla="val -61111" name="adj1"/>
              <a:gd fmla="val -37949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Uso das funções disponibilizadas pela biblioteca LCD para imprimir no display.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Para entender melhor, veja a documentação da mesma.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1º comando: posicionar em qual coluna e linha o cursor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 Medium"/>
                <a:ea typeface="Roboto Mono Medium"/>
                <a:cs typeface="Roboto Mono Medium"/>
                <a:sym typeface="Roboto Mono Medium"/>
              </a:rPr>
              <a:t>   </a:t>
            </a:r>
            <a:r>
              <a:rPr lang="pt-BR">
                <a:latin typeface="Roboto Mono Medium"/>
                <a:ea typeface="Roboto Mono Medium"/>
                <a:cs typeface="Roboto Mono Medium"/>
                <a:sym typeface="Roboto Mono Medium"/>
              </a:rPr>
              <a:t>LCD.setCursor(C,L)</a:t>
            </a:r>
            <a:endParaRPr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2ª imprimir um texto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 Medium"/>
                <a:ea typeface="Roboto Mono Medium"/>
                <a:cs typeface="Roboto Mono Medium"/>
                <a:sym typeface="Roboto Mono Medium"/>
              </a:rPr>
              <a:t>   </a:t>
            </a:r>
            <a:r>
              <a:rPr lang="pt-BR">
                <a:latin typeface="Roboto Mono Medium"/>
                <a:ea typeface="Roboto Mono Medium"/>
                <a:cs typeface="Roboto Mono Medium"/>
                <a:sym typeface="Roboto Mono Medium"/>
              </a:rPr>
              <a:t>LCD.print(“texto”)</a:t>
            </a:r>
            <a:endParaRPr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 Medium"/>
                <a:ea typeface="Roboto Mono Medium"/>
                <a:cs typeface="Roboto Mono Medium"/>
                <a:sym typeface="Roboto Mono Medium"/>
              </a:rPr>
              <a:t>   LCD.print(variavel)</a:t>
            </a:r>
            <a:endParaRPr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 2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Resolva o exercício do próximo slide na linguagem C usando o DEVCPP.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TheHuxley - Aluguel de Carro</a:t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TheHuxley - Aluguel de Carro - https://www.thehuxley.com/problem/1086?locale=pt_BR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Descrição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locadora de carros SAI DA FRENTE está fazendo uma promoção e está alugando carros no período junino por R$ 30,00 a diária. Além disso, a locadora cobra R$ 0,01 por quilômetro rodado. Como é período de São João, a locadora quer  fidelizar os clientes e está dando 10% de desconto no valor total do aluguel  de qualquer carro.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Formato de entrada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	Quantos dias a pessoa ficou com o carro: [1; 30]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	Quantos kilômetros ela rodou [1; 1000]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Formato de saída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	O valor total que a pessoa deve pagar pelo aluguel do carro arredondado para duas casas decimais.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pt-BR"/>
              <a:t>Atividade 2 - Revisão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Depois de resolver o exercício anterior, verifique a resposta no próximo slide e compare com a sua.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Vc acertou ? O que você pode ter errado ? Teve algo que você não entendeu?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93050"/>
            <a:ext cx="8710500" cy="6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Aluguel de Carro (RESPOSTA)</a:t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2089550"/>
            <a:ext cx="2302500" cy="24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6"/>
          <p:cNvPicPr preferRelativeResize="0"/>
          <p:nvPr/>
        </p:nvPicPr>
        <p:blipFill rotWithShape="1">
          <a:blip r:embed="rId3">
            <a:alphaModFix/>
          </a:blip>
          <a:srcRect b="53096" l="0" r="0" t="0"/>
          <a:stretch/>
        </p:blipFill>
        <p:spPr>
          <a:xfrm>
            <a:off x="64600" y="1636988"/>
            <a:ext cx="9014800" cy="3384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93050"/>
            <a:ext cx="86433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Aluguel de Carro (RESPOSTA)</a:t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2089550"/>
            <a:ext cx="2302500" cy="24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7"/>
          <p:cNvPicPr preferRelativeResize="0"/>
          <p:nvPr/>
        </p:nvPicPr>
        <p:blipFill rotWithShape="1">
          <a:blip r:embed="rId3">
            <a:alphaModFix/>
          </a:blip>
          <a:srcRect b="0" l="0" r="0" t="48697"/>
          <a:stretch/>
        </p:blipFill>
        <p:spPr>
          <a:xfrm>
            <a:off x="42975" y="1306800"/>
            <a:ext cx="9058050" cy="37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TheHuxley - Aluguel de Carro (RESPOSTA)</a:t>
            </a:r>
            <a:endParaRPr/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/*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Descrição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A locadora de carros SAI DA FRENTE está fazendo uma promoção e está alugando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carros no período junino por R$ 30,00 a diária. Além disso, a locadora cobra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R$ 0,01 por quilômetro rodado. Como é período de São João, a locadora quer 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fidelizar os clientes e está dando 10% de desconto no valor total do aluguel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de qualquer carro.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Formato de entrada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 - Quantos dias a pessoa ficou com o carro: [1; 30]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 - Quantos kilômetros ela rodou [1; 1000]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Formato de saída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 - O valor total que a pessoa deve pagar pelo aluguel do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   carro arredondado para duas casas decimais.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4668975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#include &lt; stdio.h &gt;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#include &lt; string.h &gt;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#include &lt; math.h &gt;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#include &lt; stdlib.h &gt;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int main() {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    //Declaração das Variáveis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    int tempo;      //em dias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    int distancia;  //em kilometros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    double valor;   //em reais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    //Entrada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    scanf("%d",&amp;tempo);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    scanf("%d",&amp;distancia);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    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    //Processamento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    valor = (tempo * 30 + distancia * 0.01) * 0.9;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    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    //Saída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    printf("%.2f",valor);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    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    return 0;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333333"/>
                </a:solidFill>
                <a:highlight>
                  <a:srgbClr val="F5F5F5"/>
                </a:highlight>
                <a:latin typeface="Roboto Mono Medium"/>
                <a:ea typeface="Roboto Mono Medium"/>
                <a:cs typeface="Roboto Mono Medium"/>
                <a:sym typeface="Roboto Mono Medium"/>
              </a:rPr>
              <a:t>}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 3</a:t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exercício do próximo slide deve ser feito na plataforma TinkerCad.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Abra o código fonte da placa arduino e complete/modifique o código para resolver o mesmo problema do Aluguel de Carro feito em Linguagem C com o DEVCPP.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Modifique/complete o código para fazer 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cálculo do aluguel de carro da locadora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“Sai da Frente”</a:t>
            </a:r>
            <a:endParaRPr/>
          </a:p>
        </p:txBody>
      </p:sp>
      <p:pic>
        <p:nvPicPr>
          <p:cNvPr id="170" name="Google Shape;1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8299" y="2372950"/>
            <a:ext cx="3531576" cy="226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Tinkercad - Aluguel de Carro - Projeto</a:t>
            </a:r>
            <a:endParaRPr/>
          </a:p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311700" y="1152475"/>
            <a:ext cx="339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Acesse o link a seguir e depois clique em "Copiar e usar"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https://www.tinkercad.com/things/hHo2m081jwI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5472" y="1319225"/>
            <a:ext cx="5174400" cy="3318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10288"/>
            <a:ext cx="4519075" cy="382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5950" y="1017725"/>
            <a:ext cx="4817825" cy="401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1"/>
          <p:cNvSpPr/>
          <p:nvPr/>
        </p:nvSpPr>
        <p:spPr>
          <a:xfrm>
            <a:off x="260700" y="4287175"/>
            <a:ext cx="2409600" cy="28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Complete o código</a:t>
            </a:r>
            <a:endParaRPr/>
          </a:p>
        </p:txBody>
      </p:sp>
      <p:sp>
        <p:nvSpPr>
          <p:cNvPr id="186" name="Google Shape;186;p31"/>
          <p:cNvSpPr/>
          <p:nvPr/>
        </p:nvSpPr>
        <p:spPr>
          <a:xfrm>
            <a:off x="4774500" y="2368100"/>
            <a:ext cx="2409600" cy="28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Complete o código</a:t>
            </a:r>
            <a:endParaRPr/>
          </a:p>
        </p:txBody>
      </p:sp>
      <p:sp>
        <p:nvSpPr>
          <p:cNvPr id="187" name="Google Shape;187;p31"/>
          <p:cNvSpPr/>
          <p:nvPr/>
        </p:nvSpPr>
        <p:spPr>
          <a:xfrm>
            <a:off x="4774500" y="2816425"/>
            <a:ext cx="2409600" cy="28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Complete o código</a:t>
            </a:r>
            <a:endParaRPr/>
          </a:p>
        </p:txBody>
      </p:sp>
      <p:sp>
        <p:nvSpPr>
          <p:cNvPr id="188" name="Google Shape;188;p31"/>
          <p:cNvSpPr txBox="1"/>
          <p:nvPr>
            <p:ph type="title"/>
          </p:nvPr>
        </p:nvSpPr>
        <p:spPr>
          <a:xfrm>
            <a:off x="248275" y="71575"/>
            <a:ext cx="6057900" cy="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4396"/>
              <a:buNone/>
            </a:pPr>
            <a:r>
              <a:rPr lang="pt-BR" sz="1820"/>
              <a:t>Aluguel de Carro</a:t>
            </a:r>
            <a:r>
              <a:rPr lang="pt-BR" sz="1820"/>
              <a:t> - Código do Tinkercad</a:t>
            </a:r>
            <a:endParaRPr sz="182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 3</a:t>
            </a:r>
            <a:endParaRPr/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Entregue o código fonte e um ‘print’ da tela com o exercício resolvido.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No ‘print’ da tela inclua o seu nome.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Desafio</a:t>
            </a:r>
            <a:endParaRPr/>
          </a:p>
        </p:txBody>
      </p:sp>
      <p:sp>
        <p:nvSpPr>
          <p:cNvPr id="200" name="Google Shape;20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Faça uma modificação no código de forma que o ‘display’ ´pare de piscar.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Pense no conteúdo de texto que não precisa ser reescrito toda vez que for feita a leitura dos </a:t>
            </a:r>
            <a:r>
              <a:rPr lang="pt-BR"/>
              <a:t>potenciômetros</a:t>
            </a:r>
            <a:r>
              <a:rPr lang="pt-BR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Função ‘</a:t>
            </a:r>
            <a:r>
              <a:rPr lang="pt-BR">
                <a:latin typeface="Consolas"/>
                <a:ea typeface="Consolas"/>
                <a:cs typeface="Consolas"/>
                <a:sym typeface="Consolas"/>
              </a:rPr>
              <a:t>setup</a:t>
            </a:r>
            <a:r>
              <a:rPr lang="pt-BR"/>
              <a:t>’ - 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Função ‘</a:t>
            </a:r>
            <a:r>
              <a:rPr lang="pt-BR">
                <a:latin typeface="Consolas"/>
                <a:ea typeface="Consolas"/>
                <a:cs typeface="Consolas"/>
                <a:sym typeface="Consolas"/>
              </a:rPr>
              <a:t>loop</a:t>
            </a:r>
            <a:r>
              <a:rPr lang="pt-BR"/>
              <a:t>’ - &gt;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10288"/>
            <a:ext cx="4519075" cy="382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5950" y="1017725"/>
            <a:ext cx="4817825" cy="40110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p34"/>
          <p:cNvCxnSpPr/>
          <p:nvPr/>
        </p:nvCxnSpPr>
        <p:spPr>
          <a:xfrm rot="10800000">
            <a:off x="678475" y="2831325"/>
            <a:ext cx="4071300" cy="4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" name="Google Shape;210;p34"/>
          <p:cNvCxnSpPr/>
          <p:nvPr/>
        </p:nvCxnSpPr>
        <p:spPr>
          <a:xfrm rot="10800000">
            <a:off x="678575" y="2890050"/>
            <a:ext cx="4037700" cy="13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